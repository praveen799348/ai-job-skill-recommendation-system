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5"/>
  </p:notesMasterIdLst>
  <p:sldIdLst>
    <p:sldId id="256" r:id="rId3"/>
    <p:sldId id="571" r:id="rId4"/>
    <p:sldId id="572" r:id="rId5"/>
    <p:sldId id="573" r:id="rId6"/>
    <p:sldId id="574" r:id="rId7"/>
    <p:sldId id="575" r:id="rId8"/>
    <p:sldId id="580" r:id="rId9"/>
    <p:sldId id="576" r:id="rId10"/>
    <p:sldId id="577" r:id="rId11"/>
    <p:sldId id="579" r:id="rId12"/>
    <p:sldId id="578" r:id="rId13"/>
    <p:sldId id="536" r:id="rId14"/>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69" d="100"/>
          <a:sy n="69" d="100"/>
        </p:scale>
        <p:origin x="540" y="44"/>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8/10/relationships/authors" Targe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12</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17-02-2026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2/17/2026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cstate="hq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Praveen799348/AI-Job-Skill-Recommendation-System.git"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Black" panose="020B0A04020102020204" pitchFamily="34" charset="0"/>
            </a:endParaRPr>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Black" panose="020B0A04020102020204" pitchFamily="34" charset="0"/>
            </a:endParaRPr>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Black" panose="020B0A04020102020204" pitchFamily="34" charset="0"/>
            </a:endParaRPr>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Black" panose="020B0A04020102020204" pitchFamily="34" charset="0"/>
            </a:endParaRPr>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Arial Black" panose="020B0A04020102020204" pitchFamily="34" charset="0"/>
            </a:endParaRPr>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Arial Black" panose="020B0A04020102020204" pitchFamily="34" charset="0"/>
              </a:rPr>
              <a:t>CAPSTONE </a:t>
            </a:r>
            <a:r>
              <a:rPr lang="en-US" sz="2800" b="1" dirty="0">
                <a:latin typeface="Arial Black" panose="020B0A04020102020204" pitchFamily="34" charset="0"/>
              </a:rPr>
              <a:t>PROJECT</a:t>
            </a:r>
            <a:endParaRPr lang="en-US" sz="5100" dirty="0">
              <a:latin typeface="Arial Black" panose="020B0A04020102020204" pitchFamily="34" charset="0"/>
            </a:endParaRPr>
          </a:p>
          <a:p>
            <a:pPr algn="l"/>
            <a:r>
              <a:rPr lang="en-US" sz="5100" b="1" dirty="0">
                <a:latin typeface="Arial Black" panose="020B0A04020102020204" pitchFamily="34" charset="0"/>
              </a:rPr>
              <a:t/>
            </a:r>
            <a:br>
              <a:rPr lang="en-US" sz="5100" b="1" dirty="0">
                <a:latin typeface="Arial Black" panose="020B0A04020102020204" pitchFamily="34" charset="0"/>
              </a:rPr>
            </a:br>
            <a:r>
              <a:rPr lang="en-IN" sz="5400" dirty="0">
                <a:latin typeface="Arial Black" panose="020B0A04020102020204" pitchFamily="34" charset="0"/>
              </a:rPr>
              <a:t>AI-Based Job Market Trend Analysis &amp; Skill Recommendation System</a:t>
            </a:r>
            <a:endParaRPr lang="en-US" sz="5100" dirty="0">
              <a:latin typeface="Arial Black" panose="020B0A04020102020204" pitchFamily="34" charset="0"/>
            </a:endParaRPr>
          </a:p>
          <a:p>
            <a:pPr algn="l"/>
            <a:endParaRPr lang="en-US" sz="5100" b="1" kern="1200" dirty="0">
              <a:latin typeface="Arial Black" panose="020B0A04020102020204" pitchFamily="34" charset="0"/>
            </a:endParaRPr>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latin typeface="Arial Black" panose="020B0A04020102020204" pitchFamily="34" charset="0"/>
              </a:rPr>
              <a:t>Presented By</a:t>
            </a:r>
            <a:endParaRPr lang="en-US" sz="1600" cap="all" dirty="0">
              <a:latin typeface="Arial Black" panose="020B0A04020102020204" pitchFamily="34" charset="0"/>
            </a:endParaRPr>
          </a:p>
          <a:p>
            <a:pPr algn="l">
              <a:spcAft>
                <a:spcPts val="600"/>
              </a:spcAft>
            </a:pPr>
            <a:r>
              <a:rPr lang="en-US" sz="1600" b="1" cap="all" dirty="0">
                <a:latin typeface="Arial Black" panose="020B0A04020102020204" pitchFamily="34" charset="0"/>
              </a:rPr>
              <a:t>Student Name: </a:t>
            </a:r>
            <a:r>
              <a:rPr lang="en-US" sz="1600" b="1" cap="all" dirty="0" smtClean="0">
                <a:latin typeface="Arial Black" panose="020B0A04020102020204" pitchFamily="34" charset="0"/>
              </a:rPr>
              <a:t>SOMANA PRAVEEN KUMAR</a:t>
            </a:r>
            <a:endParaRPr lang="en-US" sz="1600" b="1" cap="all" dirty="0">
              <a:latin typeface="Arial Black" panose="020B0A04020102020204" pitchFamily="34" charset="0"/>
            </a:endParaRPr>
          </a:p>
          <a:p>
            <a:pPr algn="l">
              <a:spcAft>
                <a:spcPts val="600"/>
              </a:spcAft>
            </a:pPr>
            <a:r>
              <a:rPr lang="en-US" sz="1600" b="1" cap="all" dirty="0">
                <a:latin typeface="Arial Black" panose="020B0A04020102020204" pitchFamily="34" charset="0"/>
              </a:rPr>
              <a:t>College Name: </a:t>
            </a:r>
            <a:r>
              <a:rPr lang="en-US" sz="1600" b="1" cap="all" dirty="0" err="1">
                <a:latin typeface="Arial Black" panose="020B0A04020102020204" pitchFamily="34" charset="0"/>
              </a:rPr>
              <a:t>chebrolu</a:t>
            </a:r>
            <a:r>
              <a:rPr lang="en-US" sz="1600" b="1" cap="all" dirty="0">
                <a:latin typeface="Arial Black" panose="020B0A04020102020204" pitchFamily="34" charset="0"/>
              </a:rPr>
              <a:t> engineering college</a:t>
            </a:r>
          </a:p>
          <a:p>
            <a:pPr algn="l">
              <a:spcAft>
                <a:spcPts val="600"/>
              </a:spcAft>
            </a:pPr>
            <a:r>
              <a:rPr lang="en-US" sz="1600" b="1" cap="all" dirty="0">
                <a:latin typeface="Arial Black" panose="020B0A04020102020204" pitchFamily="34" charset="0"/>
              </a:rPr>
              <a:t>Department: </a:t>
            </a:r>
            <a:r>
              <a:rPr lang="en-IN" sz="1600" b="1" cap="all" dirty="0" err="1">
                <a:latin typeface="Arial Black" panose="020B0A04020102020204" pitchFamily="34" charset="0"/>
              </a:rPr>
              <a:t>b.tech</a:t>
            </a:r>
            <a:r>
              <a:rPr lang="en-IN" sz="1600" b="1" cap="all" dirty="0">
                <a:latin typeface="Arial Black" panose="020B0A04020102020204" pitchFamily="34" charset="0"/>
              </a:rPr>
              <a:t> – data science</a:t>
            </a:r>
            <a:endParaRPr lang="en-US" sz="1600" b="1" cap="all" dirty="0">
              <a:latin typeface="Arial Black" panose="020B0A04020102020204" pitchFamily="34" charset="0"/>
            </a:endParaRPr>
          </a:p>
          <a:p>
            <a:pPr algn="l">
              <a:spcAft>
                <a:spcPts val="600"/>
              </a:spcAft>
            </a:pPr>
            <a:r>
              <a:rPr lang="en-US" sz="1600" b="1" cap="all" dirty="0">
                <a:latin typeface="Arial Black" panose="020B0A04020102020204" pitchFamily="34" charset="0"/>
              </a:rPr>
              <a:t>Email ID: </a:t>
            </a:r>
            <a:r>
              <a:rPr lang="en-US" sz="1600" b="1" cap="all" dirty="0" smtClean="0">
                <a:latin typeface="Arial Black" panose="020B0A04020102020204" pitchFamily="34" charset="0"/>
              </a:rPr>
              <a:t>praveensomana2004@gmail.com</a:t>
            </a:r>
            <a:endParaRPr lang="en-US" sz="1600" b="1" cap="all" dirty="0">
              <a:latin typeface="Arial Black" panose="020B0A04020102020204" pitchFamily="34" charset="0"/>
            </a:endParaRP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Arial Black" panose="020B0A04020102020204" pitchFamily="34" charset="0"/>
            </a:endParaRPr>
          </a:p>
        </p:txBody>
      </p:sp>
      <p:pic>
        <p:nvPicPr>
          <p:cNvPr id="7" name="Picture 6"/>
          <p:cNvPicPr>
            <a:picLocks noChangeAspect="1"/>
          </p:cNvPicPr>
          <p:nvPr/>
        </p:nvPicPr>
        <p:blipFill>
          <a:blip r:embed="rId5"/>
          <a:stretch>
            <a:fillRect/>
          </a:stretch>
        </p:blipFill>
        <p:spPr>
          <a:xfrm>
            <a:off x="6114473" y="372436"/>
            <a:ext cx="4535054" cy="5764788"/>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a:cs typeface="Arial"/>
              </a:rPr>
              <a:t>Problem Statement </a:t>
            </a:r>
            <a:r>
              <a:rPr lang="en-US" sz="2200">
                <a:latin typeface="Arial"/>
                <a:cs typeface="Arial"/>
              </a:rPr>
              <a:t>(Should not include solution)</a:t>
            </a:r>
          </a:p>
          <a:p>
            <a:pPr marL="305435" indent="-305435">
              <a:spcBef>
                <a:spcPct val="20000"/>
              </a:spcBef>
              <a:spcAft>
                <a:spcPts val="600"/>
              </a:spcAft>
            </a:pPr>
            <a:r>
              <a:rPr lang="en-US" sz="2200" b="1">
                <a:latin typeface="Arial"/>
                <a:cs typeface="Arial"/>
              </a:rPr>
              <a:t>Proposed System/Solution</a:t>
            </a:r>
            <a:endParaRPr lang="en-US" sz="2200">
              <a:latin typeface="Arial"/>
              <a:cs typeface="Arial"/>
            </a:endParaRPr>
          </a:p>
          <a:p>
            <a:pPr marL="305435" indent="-305435">
              <a:spcBef>
                <a:spcPct val="20000"/>
              </a:spcBef>
              <a:spcAft>
                <a:spcPts val="600"/>
              </a:spcAft>
            </a:pPr>
            <a:r>
              <a:rPr lang="en-US" sz="2200" b="1">
                <a:latin typeface="Arial"/>
                <a:cs typeface="Arial"/>
              </a:rPr>
              <a:t>System Development Approach </a:t>
            </a:r>
            <a:r>
              <a:rPr lang="en-US" sz="2200">
                <a:latin typeface="Arial"/>
                <a:cs typeface="Arial"/>
              </a:rPr>
              <a:t>(Technology Used) </a:t>
            </a:r>
          </a:p>
          <a:p>
            <a:pPr marL="305435" indent="-305435">
              <a:spcBef>
                <a:spcPct val="20000"/>
              </a:spcBef>
              <a:spcAft>
                <a:spcPts val="600"/>
              </a:spcAft>
            </a:pPr>
            <a:r>
              <a:rPr lang="en-US" sz="2200" b="1">
                <a:latin typeface="Arial"/>
                <a:cs typeface="Arial"/>
              </a:rPr>
              <a:t>Algorithm &amp; Deployment  </a:t>
            </a:r>
            <a:endParaRPr lang="en-US" sz="2200">
              <a:latin typeface="Arial"/>
              <a:cs typeface="Arial"/>
            </a:endParaRPr>
          </a:p>
          <a:p>
            <a:pPr marL="305435" indent="-305435">
              <a:spcBef>
                <a:spcPct val="20000"/>
              </a:spcBef>
              <a:spcAft>
                <a:spcPts val="600"/>
              </a:spcAft>
            </a:pPr>
            <a:r>
              <a:rPr lang="en-US" sz="2200" b="1">
                <a:latin typeface="Arial"/>
                <a:cs typeface="Arial"/>
              </a:rPr>
              <a:t>Result (Output Image)</a:t>
            </a:r>
            <a:endParaRPr lang="en-US" sz="2200">
              <a:latin typeface="Arial"/>
              <a:cs typeface="Arial"/>
            </a:endParaRPr>
          </a:p>
          <a:p>
            <a:pPr marL="305435" indent="-305435">
              <a:spcBef>
                <a:spcPct val="20000"/>
              </a:spcBef>
              <a:spcAft>
                <a:spcPts val="600"/>
              </a:spcAft>
            </a:pPr>
            <a:r>
              <a:rPr lang="en-US" sz="2200" b="1">
                <a:latin typeface="Arial"/>
                <a:cs typeface="Arial"/>
              </a:rPr>
              <a:t>Conclusion</a:t>
            </a:r>
            <a:endParaRPr lang="en-US" sz="2200">
              <a:latin typeface="Arial"/>
              <a:cs typeface="Arial"/>
            </a:endParaRPr>
          </a:p>
          <a:p>
            <a:pPr marL="305435" indent="-305435">
              <a:spcBef>
                <a:spcPct val="20000"/>
              </a:spcBef>
              <a:spcAft>
                <a:spcPts val="600"/>
              </a:spcAft>
            </a:pPr>
            <a:r>
              <a:rPr lang="en-US" sz="2200" b="1">
                <a:latin typeface="Arial"/>
                <a:cs typeface="Arial"/>
              </a:rPr>
              <a:t>Future Scope</a:t>
            </a:r>
            <a:endParaRPr lang="en-US" sz="2200">
              <a:latin typeface="Arial"/>
              <a:cs typeface="Arial"/>
            </a:endParaRPr>
          </a:p>
          <a:p>
            <a:pPr marL="305435" indent="-305435">
              <a:spcBef>
                <a:spcPct val="20000"/>
              </a:spcBef>
              <a:spcAft>
                <a:spcPts val="600"/>
              </a:spcAft>
            </a:pPr>
            <a:r>
              <a:rPr lang="en-US" sz="2200" b="1">
                <a:latin typeface="Arial"/>
                <a:cs typeface="Arial"/>
              </a:rPr>
              <a:t>References</a:t>
            </a:r>
            <a:endParaRPr lang="en-US" sz="2200">
              <a:latin typeface="Arial"/>
              <a:cs typeface="Arial"/>
            </a:endParaRPr>
          </a:p>
          <a:p>
            <a:endParaRPr lang="en-GB" sz="220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Problem Statement:</a:t>
            </a:r>
            <a:endParaRPr lang="en-US" sz="4000" dirty="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1800" dirty="0">
                <a:latin typeface="Arial" panose="020B0604020202020204" pitchFamily="34" charset="0"/>
                <a:cs typeface="Arial" panose="020B0604020202020204" pitchFamily="34" charset="0"/>
              </a:rPr>
              <a:t>In today’s rapidly evolving job market, students and job seekers face difficulty in identifying the most in-demand skills and trending job roles. Due to the vast availability of job postings across multiple platforms, manually analyzing job market trends is time-consuming and inefficient. There is no intelligent system that provides real-time insights into trending skills and personalized recommendations based on actual job market data. As a result, many students learn outdated or irrelevant skills, which affects their employability and career growth.</a:t>
            </a:r>
          </a:p>
          <a:p>
            <a:pPr marL="0" indent="0">
              <a:buNone/>
            </a:pPr>
            <a:endParaRPr lang="en-US" sz="22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pPr marL="0" indent="0">
              <a:spcBef>
                <a:spcPct val="20000"/>
              </a:spcBef>
              <a:spcAft>
                <a:spcPts val="600"/>
              </a:spcAft>
              <a:buNone/>
            </a:pPr>
            <a:endParaRPr lang="en-IN" sz="1800" b="1" dirty="0">
              <a:latin typeface="Calibri"/>
              <a:ea typeface="Calibri"/>
              <a:cs typeface="Calibri"/>
            </a:endParaRPr>
          </a:p>
          <a:p>
            <a:r>
              <a:rPr lang="en-US" sz="1800" dirty="0">
                <a:latin typeface="Arial" panose="020B0604020202020204" pitchFamily="34" charset="0"/>
                <a:cs typeface="Arial" panose="020B0604020202020204" pitchFamily="34" charset="0"/>
              </a:rPr>
              <a:t>The proposed system aims to develop an </a:t>
            </a:r>
            <a:r>
              <a:rPr lang="en-US" sz="1800" b="1" dirty="0">
                <a:latin typeface="Arial" panose="020B0604020202020204" pitchFamily="34" charset="0"/>
                <a:cs typeface="Arial" panose="020B0604020202020204" pitchFamily="34" charset="0"/>
              </a:rPr>
              <a:t>AI-based Job Market Trend Analysis and Skill Recommendation System</a:t>
            </a:r>
            <a:r>
              <a:rPr lang="en-US" sz="1800" dirty="0">
                <a:latin typeface="Arial" panose="020B0604020202020204" pitchFamily="34" charset="0"/>
                <a:cs typeface="Arial" panose="020B0604020202020204" pitchFamily="34" charset="0"/>
              </a:rPr>
              <a:t> that analyzes real-time job market data using Natural Language</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Processing (NLP) and Machine Learning (ML) techniques.</a:t>
            </a:r>
          </a:p>
          <a:p>
            <a:pPr marL="0" indent="0">
              <a:buNone/>
            </a:pPr>
            <a:r>
              <a:rPr lang="en-US" sz="1800" b="1" dirty="0">
                <a:latin typeface="Arial" panose="020B0604020202020204" pitchFamily="34" charset="0"/>
                <a:cs typeface="Arial" panose="020B0604020202020204" pitchFamily="34" charset="0"/>
              </a:rPr>
              <a:t>Key Features:</a:t>
            </a:r>
          </a:p>
          <a:p>
            <a:r>
              <a:rPr lang="en-US" sz="1800" dirty="0">
                <a:latin typeface="Arial" panose="020B0604020202020204" pitchFamily="34" charset="0"/>
                <a:cs typeface="Arial" panose="020B0604020202020204" pitchFamily="34" charset="0"/>
              </a:rPr>
              <a:t>Collect job postings dataset from online job platforms.</a:t>
            </a:r>
          </a:p>
          <a:p>
            <a:r>
              <a:rPr lang="en-US" sz="1800" dirty="0">
                <a:latin typeface="Arial" panose="020B0604020202020204" pitchFamily="34" charset="0"/>
                <a:cs typeface="Arial" panose="020B0604020202020204" pitchFamily="34" charset="0"/>
              </a:rPr>
              <a:t>Perform data preprocessing and NLP-based skill extraction.</a:t>
            </a:r>
          </a:p>
          <a:p>
            <a:r>
              <a:rPr lang="en-US" sz="1800" dirty="0">
                <a:latin typeface="Arial" panose="020B0604020202020204" pitchFamily="34" charset="0"/>
                <a:cs typeface="Arial" panose="020B0604020202020204" pitchFamily="34" charset="0"/>
              </a:rPr>
              <a:t>Analyze job descriptions to identify trending skills.</a:t>
            </a:r>
          </a:p>
          <a:p>
            <a:r>
              <a:rPr lang="en-US" sz="1800" dirty="0">
                <a:latin typeface="Arial" panose="020B0604020202020204" pitchFamily="34" charset="0"/>
                <a:cs typeface="Arial" panose="020B0604020202020204" pitchFamily="34" charset="0"/>
              </a:rPr>
              <a:t>Recommend personalized skills based on selected job roles.</a:t>
            </a:r>
          </a:p>
          <a:p>
            <a:r>
              <a:rPr lang="en-US" sz="1800" dirty="0">
                <a:latin typeface="Arial" panose="020B0604020202020204" pitchFamily="34" charset="0"/>
                <a:cs typeface="Arial" panose="020B0604020202020204" pitchFamily="34" charset="0"/>
              </a:rPr>
              <a:t>Provide real-time skill suggestions through a web-based interface.</a:t>
            </a:r>
          </a:p>
          <a:p>
            <a:r>
              <a:rPr lang="en-US" sz="1800" dirty="0">
                <a:latin typeface="Arial" panose="020B0604020202020204" pitchFamily="34" charset="0"/>
                <a:cs typeface="Arial" panose="020B0604020202020204" pitchFamily="34" charset="0"/>
              </a:rPr>
              <a:t>This system helps students, job seekers, and career counselors make data-driven career decisions.</a:t>
            </a:r>
          </a:p>
          <a:p>
            <a:pPr marL="305435" indent="-305435">
              <a:spcBef>
                <a:spcPct val="20000"/>
              </a:spcBef>
              <a:spcAft>
                <a:spcPts val="600"/>
              </a:spcAft>
              <a:buFont typeface="Arial"/>
              <a:buChar char="•"/>
            </a:pPr>
            <a:endParaRPr lang="en-IN" sz="1200" b="1" dirty="0">
              <a:latin typeface="Calibri"/>
              <a:ea typeface="Calibri"/>
              <a:cs typeface="Calibri"/>
            </a:endParaRP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342663"/>
            <a:ext cx="10515600" cy="5139159"/>
          </a:xfrm>
        </p:spPr>
        <p:txBody>
          <a:bodyPr vert="horz" lIns="91440" tIns="45720" rIns="91440" bIns="45720" rtlCol="0">
            <a:normAutofit fontScale="55000" lnSpcReduction="20000"/>
          </a:bodyPr>
          <a:lstStyle/>
          <a:p>
            <a:r>
              <a:rPr lang="en-IN" sz="3300" b="1" dirty="0">
                <a:latin typeface="Arial" panose="020B0604020202020204" pitchFamily="34" charset="0"/>
                <a:cs typeface="Arial" panose="020B0604020202020204" pitchFamily="34" charset="0"/>
              </a:rPr>
              <a:t>System Requirements:</a:t>
            </a:r>
          </a:p>
          <a:p>
            <a:r>
              <a:rPr lang="en-IN" sz="3300" dirty="0">
                <a:latin typeface="Arial" panose="020B0604020202020204" pitchFamily="34" charset="0"/>
                <a:cs typeface="Arial" panose="020B0604020202020204" pitchFamily="34" charset="0"/>
              </a:rPr>
              <a:t>Hardware:</a:t>
            </a:r>
          </a:p>
          <a:p>
            <a:pPr lvl="1"/>
            <a:r>
              <a:rPr lang="en-IN" sz="3300" dirty="0">
                <a:latin typeface="Arial" panose="020B0604020202020204" pitchFamily="34" charset="0"/>
                <a:cs typeface="Arial" panose="020B0604020202020204" pitchFamily="34" charset="0"/>
              </a:rPr>
              <a:t>Processor: Intel i3 or higher</a:t>
            </a:r>
          </a:p>
          <a:p>
            <a:pPr lvl="1"/>
            <a:r>
              <a:rPr lang="en-IN" sz="3300" dirty="0">
                <a:latin typeface="Arial" panose="020B0604020202020204" pitchFamily="34" charset="0"/>
                <a:cs typeface="Arial" panose="020B0604020202020204" pitchFamily="34" charset="0"/>
              </a:rPr>
              <a:t>RAM: 4GB minimum</a:t>
            </a:r>
          </a:p>
          <a:p>
            <a:pPr lvl="1"/>
            <a:r>
              <a:rPr lang="en-IN" sz="3300" dirty="0">
                <a:latin typeface="Arial" panose="020B0604020202020204" pitchFamily="34" charset="0"/>
                <a:cs typeface="Arial" panose="020B0604020202020204" pitchFamily="34" charset="0"/>
              </a:rPr>
              <a:t>Storage: 20GB free space</a:t>
            </a:r>
          </a:p>
          <a:p>
            <a:r>
              <a:rPr lang="en-IN" sz="3300" dirty="0">
                <a:latin typeface="Arial" panose="020B0604020202020204" pitchFamily="34" charset="0"/>
                <a:cs typeface="Arial" panose="020B0604020202020204" pitchFamily="34" charset="0"/>
              </a:rPr>
              <a:t>Software:</a:t>
            </a:r>
          </a:p>
          <a:p>
            <a:pPr lvl="1"/>
            <a:r>
              <a:rPr lang="en-IN" sz="3300" dirty="0">
                <a:latin typeface="Arial" panose="020B0604020202020204" pitchFamily="34" charset="0"/>
                <a:cs typeface="Arial" panose="020B0604020202020204" pitchFamily="34" charset="0"/>
              </a:rPr>
              <a:t>Python</a:t>
            </a:r>
          </a:p>
          <a:p>
            <a:pPr lvl="1"/>
            <a:r>
              <a:rPr lang="en-IN" sz="3300" dirty="0">
                <a:latin typeface="Arial" panose="020B0604020202020204" pitchFamily="34" charset="0"/>
                <a:cs typeface="Arial" panose="020B0604020202020204" pitchFamily="34" charset="0"/>
              </a:rPr>
              <a:t>Flask Framework</a:t>
            </a:r>
          </a:p>
          <a:p>
            <a:pPr lvl="1"/>
            <a:r>
              <a:rPr lang="en-IN" sz="3300" dirty="0">
                <a:latin typeface="Arial" panose="020B0604020202020204" pitchFamily="34" charset="0"/>
                <a:cs typeface="Arial" panose="020B0604020202020204" pitchFamily="34" charset="0"/>
              </a:rPr>
              <a:t>VS Code</a:t>
            </a:r>
          </a:p>
          <a:p>
            <a:pPr lvl="1"/>
            <a:r>
              <a:rPr lang="en-IN" sz="3300" dirty="0">
                <a:latin typeface="Arial" panose="020B0604020202020204" pitchFamily="34" charset="0"/>
                <a:cs typeface="Arial" panose="020B0604020202020204" pitchFamily="34" charset="0"/>
              </a:rPr>
              <a:t>Google </a:t>
            </a:r>
            <a:r>
              <a:rPr lang="en-IN" sz="3300" dirty="0" err="1">
                <a:latin typeface="Arial" panose="020B0604020202020204" pitchFamily="34" charset="0"/>
                <a:cs typeface="Arial" panose="020B0604020202020204" pitchFamily="34" charset="0"/>
              </a:rPr>
              <a:t>Colab</a:t>
            </a:r>
            <a:endParaRPr lang="en-IN" sz="3300" dirty="0">
              <a:latin typeface="Arial" panose="020B0604020202020204" pitchFamily="34" charset="0"/>
              <a:cs typeface="Arial" panose="020B0604020202020204" pitchFamily="34" charset="0"/>
            </a:endParaRPr>
          </a:p>
          <a:p>
            <a:pPr lvl="1"/>
            <a:r>
              <a:rPr lang="en-IN" sz="3300" dirty="0">
                <a:latin typeface="Arial" panose="020B0604020202020204" pitchFamily="34" charset="0"/>
                <a:cs typeface="Arial" panose="020B0604020202020204" pitchFamily="34" charset="0"/>
              </a:rPr>
              <a:t>Web Browser</a:t>
            </a:r>
          </a:p>
          <a:p>
            <a:r>
              <a:rPr lang="en-IN" sz="3300" b="1" dirty="0">
                <a:latin typeface="Arial" panose="020B0604020202020204" pitchFamily="34" charset="0"/>
                <a:cs typeface="Arial" panose="020B0604020202020204" pitchFamily="34" charset="0"/>
              </a:rPr>
              <a:t>Libraries Used:</a:t>
            </a:r>
          </a:p>
          <a:p>
            <a:r>
              <a:rPr lang="en-IN" sz="3300" dirty="0">
                <a:latin typeface="Arial" panose="020B0604020202020204" pitchFamily="34" charset="0"/>
                <a:cs typeface="Arial" panose="020B0604020202020204" pitchFamily="34" charset="0"/>
              </a:rPr>
              <a:t>pandas</a:t>
            </a:r>
          </a:p>
          <a:p>
            <a:r>
              <a:rPr lang="en-IN" sz="3300" dirty="0">
                <a:latin typeface="Arial" panose="020B0604020202020204" pitchFamily="34" charset="0"/>
                <a:cs typeface="Arial" panose="020B0604020202020204" pitchFamily="34" charset="0"/>
              </a:rPr>
              <a:t>scikit-learn</a:t>
            </a:r>
          </a:p>
          <a:p>
            <a:r>
              <a:rPr lang="en-IN" sz="3300" dirty="0" err="1">
                <a:latin typeface="Arial" panose="020B0604020202020204" pitchFamily="34" charset="0"/>
                <a:cs typeface="Arial" panose="020B0604020202020204" pitchFamily="34" charset="0"/>
              </a:rPr>
              <a:t>nltk</a:t>
            </a:r>
            <a:endParaRPr lang="en-IN" sz="3300" dirty="0">
              <a:latin typeface="Arial" panose="020B0604020202020204" pitchFamily="34" charset="0"/>
              <a:cs typeface="Arial" panose="020B0604020202020204" pitchFamily="34" charset="0"/>
            </a:endParaRPr>
          </a:p>
          <a:p>
            <a:r>
              <a:rPr lang="en-IN" sz="3300" dirty="0">
                <a:latin typeface="Arial" panose="020B0604020202020204" pitchFamily="34" charset="0"/>
                <a:cs typeface="Arial" panose="020B0604020202020204" pitchFamily="34" charset="0"/>
              </a:rPr>
              <a:t>flask</a:t>
            </a:r>
          </a:p>
          <a:p>
            <a:r>
              <a:rPr lang="en-IN" sz="3300" dirty="0">
                <a:latin typeface="Arial" panose="020B0604020202020204" pitchFamily="34" charset="0"/>
                <a:cs typeface="Arial" panose="020B0604020202020204" pitchFamily="34" charset="0"/>
              </a:rPr>
              <a:t>matplotlib</a:t>
            </a:r>
          </a:p>
          <a:p>
            <a:pPr marL="0" indent="0">
              <a:spcBef>
                <a:spcPct val="20000"/>
              </a:spcBef>
              <a:spcAft>
                <a:spcPts val="600"/>
              </a:spcAft>
              <a:buNone/>
            </a:pPr>
            <a:endParaRPr lang="en-US" sz="2200" dirty="0">
              <a:latin typeface="Franklin Gothic Book"/>
            </a:endParaRP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365813"/>
            <a:ext cx="10515600" cy="5197033"/>
          </a:xfrm>
        </p:spPr>
        <p:txBody>
          <a:bodyPr vert="horz" lIns="91440" tIns="45720" rIns="91440" bIns="45720" rtlCol="0">
            <a:normAutofit fontScale="25000" lnSpcReduction="20000"/>
          </a:bodyPr>
          <a:lstStyle/>
          <a:p>
            <a:pPr marL="0" indent="0">
              <a:buNone/>
            </a:pPr>
            <a:r>
              <a:rPr lang="en-IN" sz="7200" b="1" dirty="0">
                <a:latin typeface="Arial" panose="020B0604020202020204" pitchFamily="34" charset="0"/>
                <a:cs typeface="Arial" panose="020B0604020202020204" pitchFamily="34" charset="0"/>
              </a:rPr>
              <a:t>Algorithm Selection:</a:t>
            </a:r>
          </a:p>
          <a:p>
            <a:r>
              <a:rPr lang="en-IN" sz="7200" dirty="0">
                <a:latin typeface="Arial" panose="020B0604020202020204" pitchFamily="34" charset="0"/>
                <a:cs typeface="Arial" panose="020B0604020202020204" pitchFamily="34" charset="0"/>
              </a:rPr>
              <a:t>The system uses </a:t>
            </a:r>
            <a:r>
              <a:rPr lang="en-IN" sz="7200" b="1" dirty="0">
                <a:latin typeface="Arial" panose="020B0604020202020204" pitchFamily="34" charset="0"/>
                <a:cs typeface="Arial" panose="020B0604020202020204" pitchFamily="34" charset="0"/>
              </a:rPr>
              <a:t>Natural Language Processing (NLP)</a:t>
            </a:r>
            <a:r>
              <a:rPr lang="en-IN" sz="7200" dirty="0">
                <a:latin typeface="Arial" panose="020B0604020202020204" pitchFamily="34" charset="0"/>
                <a:cs typeface="Arial" panose="020B0604020202020204" pitchFamily="34" charset="0"/>
              </a:rPr>
              <a:t> techniques for text processing and </a:t>
            </a:r>
            <a:r>
              <a:rPr lang="en-IN" sz="7200" b="1" dirty="0">
                <a:latin typeface="Arial" panose="020B0604020202020204" pitchFamily="34" charset="0"/>
                <a:cs typeface="Arial" panose="020B0604020202020204" pitchFamily="34" charset="0"/>
              </a:rPr>
              <a:t>frequency-based learning models</a:t>
            </a:r>
            <a:r>
              <a:rPr lang="en-IN" sz="7200" dirty="0">
                <a:latin typeface="Arial" panose="020B0604020202020204" pitchFamily="34" charset="0"/>
                <a:cs typeface="Arial" panose="020B0604020202020204" pitchFamily="34" charset="0"/>
              </a:rPr>
              <a:t> for identifying trending skills. Machine Learning techniques are applied to recommend relevant skills for each job role.</a:t>
            </a:r>
          </a:p>
          <a:p>
            <a:pPr marL="0" indent="0">
              <a:buNone/>
            </a:pPr>
            <a:r>
              <a:rPr lang="en-IN" sz="7200" b="1" dirty="0">
                <a:latin typeface="Arial" panose="020B0604020202020204" pitchFamily="34" charset="0"/>
                <a:cs typeface="Arial" panose="020B0604020202020204" pitchFamily="34" charset="0"/>
              </a:rPr>
              <a:t>Data Input:</a:t>
            </a:r>
          </a:p>
          <a:p>
            <a:r>
              <a:rPr lang="en-IN" sz="7200" dirty="0">
                <a:latin typeface="Arial" panose="020B0604020202020204" pitchFamily="34" charset="0"/>
                <a:cs typeface="Arial" panose="020B0604020202020204" pitchFamily="34" charset="0"/>
              </a:rPr>
              <a:t>Job Title</a:t>
            </a:r>
          </a:p>
          <a:p>
            <a:r>
              <a:rPr lang="en-IN" sz="7200" dirty="0">
                <a:latin typeface="Arial" panose="020B0604020202020204" pitchFamily="34" charset="0"/>
                <a:cs typeface="Arial" panose="020B0604020202020204" pitchFamily="34" charset="0"/>
              </a:rPr>
              <a:t>Job Description</a:t>
            </a:r>
          </a:p>
          <a:p>
            <a:r>
              <a:rPr lang="en-IN" sz="7200" dirty="0">
                <a:latin typeface="Arial" panose="020B0604020202020204" pitchFamily="34" charset="0"/>
                <a:cs typeface="Arial" panose="020B0604020202020204" pitchFamily="34" charset="0"/>
              </a:rPr>
              <a:t>Industry</a:t>
            </a:r>
          </a:p>
          <a:p>
            <a:r>
              <a:rPr lang="en-IN" sz="7200" dirty="0">
                <a:latin typeface="Arial" panose="020B0604020202020204" pitchFamily="34" charset="0"/>
                <a:cs typeface="Arial" panose="020B0604020202020204" pitchFamily="34" charset="0"/>
              </a:rPr>
              <a:t>Location</a:t>
            </a:r>
          </a:p>
          <a:p>
            <a:pPr marL="0" indent="0">
              <a:buNone/>
            </a:pPr>
            <a:r>
              <a:rPr lang="en-IN" sz="7200" b="1" dirty="0">
                <a:latin typeface="Arial" panose="020B0604020202020204" pitchFamily="34" charset="0"/>
                <a:cs typeface="Arial" panose="020B0604020202020204" pitchFamily="34" charset="0"/>
              </a:rPr>
              <a:t>Training Process:</a:t>
            </a:r>
          </a:p>
          <a:p>
            <a:r>
              <a:rPr lang="en-IN" sz="7200" dirty="0">
                <a:latin typeface="Arial" panose="020B0604020202020204" pitchFamily="34" charset="0"/>
                <a:cs typeface="Arial" panose="020B0604020202020204" pitchFamily="34" charset="0"/>
              </a:rPr>
              <a:t>Data cleaning and preprocessing</a:t>
            </a:r>
          </a:p>
          <a:p>
            <a:r>
              <a:rPr lang="en-IN" sz="7200" dirty="0">
                <a:latin typeface="Arial" panose="020B0604020202020204" pitchFamily="34" charset="0"/>
                <a:cs typeface="Arial" panose="020B0604020202020204" pitchFamily="34" charset="0"/>
              </a:rPr>
              <a:t>Tokenization and text normalization</a:t>
            </a:r>
          </a:p>
          <a:p>
            <a:r>
              <a:rPr lang="en-IN" sz="7200" dirty="0" err="1">
                <a:latin typeface="Arial" panose="020B0604020202020204" pitchFamily="34" charset="0"/>
                <a:cs typeface="Arial" panose="020B0604020202020204" pitchFamily="34" charset="0"/>
              </a:rPr>
              <a:t>Stopword</a:t>
            </a:r>
            <a:r>
              <a:rPr lang="en-IN" sz="7200" dirty="0">
                <a:latin typeface="Arial" panose="020B0604020202020204" pitchFamily="34" charset="0"/>
                <a:cs typeface="Arial" panose="020B0604020202020204" pitchFamily="34" charset="0"/>
              </a:rPr>
              <a:t> removal</a:t>
            </a:r>
          </a:p>
          <a:p>
            <a:r>
              <a:rPr lang="en-IN" sz="7200" dirty="0">
                <a:latin typeface="Arial" panose="020B0604020202020204" pitchFamily="34" charset="0"/>
                <a:cs typeface="Arial" panose="020B0604020202020204" pitchFamily="34" charset="0"/>
              </a:rPr>
              <a:t>Skill keyword extraction</a:t>
            </a:r>
          </a:p>
          <a:p>
            <a:r>
              <a:rPr lang="en-IN" sz="7200" dirty="0">
                <a:latin typeface="Arial" panose="020B0604020202020204" pitchFamily="34" charset="0"/>
                <a:cs typeface="Arial" panose="020B0604020202020204" pitchFamily="34" charset="0"/>
              </a:rPr>
              <a:t>Frequency-based pattern learning</a:t>
            </a:r>
          </a:p>
          <a:p>
            <a:pPr marL="0" indent="0">
              <a:buNone/>
            </a:pPr>
            <a:endParaRPr lang="en-IN" sz="7200" dirty="0">
              <a:latin typeface="Arial" panose="020B0604020202020204" pitchFamily="34" charset="0"/>
              <a:cs typeface="Arial" panose="020B0604020202020204" pitchFamily="34" charset="0"/>
            </a:endParaRPr>
          </a:p>
          <a:p>
            <a:pPr marL="305435" indent="-305435">
              <a:spcBef>
                <a:spcPct val="20000"/>
              </a:spcBef>
              <a:spcAft>
                <a:spcPts val="600"/>
              </a:spcAft>
              <a:buFont typeface="Arial"/>
              <a:buChar char="•"/>
            </a:pPr>
            <a:endParaRPr lang="en-GB" sz="1500" dirty="0"/>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B54E08-72E1-29E8-77EB-90CF788D5475}"/>
              </a:ext>
            </a:extLst>
          </p:cNvPr>
          <p:cNvSpPr txBox="1"/>
          <p:nvPr/>
        </p:nvSpPr>
        <p:spPr>
          <a:xfrm>
            <a:off x="115747" y="775504"/>
            <a:ext cx="11956648" cy="3416320"/>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Prediction Process:</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User inputs job role</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System analyzes similar job descriptions</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Extracts frequent skills</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Displays top recommended skills</a:t>
            </a:r>
            <a:endParaRPr lang="en-IN" b="1" dirty="0">
              <a:latin typeface="Arial" panose="020B0604020202020204" pitchFamily="34" charset="0"/>
              <a:cs typeface="Arial" panose="020B0604020202020204" pitchFamily="34" charset="0"/>
            </a:endParaRPr>
          </a:p>
          <a:p>
            <a:pPr marL="0" indent="0">
              <a:buNone/>
            </a:pPr>
            <a:r>
              <a:rPr lang="en-IN" b="1" dirty="0">
                <a:latin typeface="Arial" panose="020B0604020202020204" pitchFamily="34" charset="0"/>
                <a:cs typeface="Arial" panose="020B0604020202020204" pitchFamily="34" charset="0"/>
              </a:rPr>
              <a:t>Deployment:</a:t>
            </a:r>
          </a:p>
          <a:p>
            <a:pPr marL="342900" indent="-342900">
              <a:buFont typeface="Arial" panose="020B0604020202020204" pitchFamily="34" charset="0"/>
              <a:buChar char="•"/>
            </a:pPr>
            <a:r>
              <a:rPr lang="en-IN" dirty="0">
                <a:latin typeface="Arial" panose="020B0604020202020204" pitchFamily="34" charset="0"/>
                <a:cs typeface="Arial" panose="020B0604020202020204" pitchFamily="34" charset="0"/>
              </a:rPr>
              <a:t>The system is deployed using </a:t>
            </a:r>
            <a:r>
              <a:rPr lang="en-IN" b="1" dirty="0">
                <a:latin typeface="Arial" panose="020B0604020202020204" pitchFamily="34" charset="0"/>
                <a:cs typeface="Arial" panose="020B0604020202020204" pitchFamily="34" charset="0"/>
              </a:rPr>
              <a:t>Flask web framework</a:t>
            </a:r>
            <a:r>
              <a:rPr lang="en-IN" dirty="0">
                <a:latin typeface="Arial" panose="020B0604020202020204" pitchFamily="34" charset="0"/>
                <a:cs typeface="Arial" panose="020B0604020202020204" pitchFamily="34" charset="0"/>
              </a:rPr>
              <a:t> as a local web application, allowing users to interact via a browser interface.</a:t>
            </a:r>
          </a:p>
          <a:p>
            <a:r>
              <a:rPr lang="en-IN" b="1" dirty="0">
                <a:latin typeface="Arial" panose="020B0604020202020204" pitchFamily="34" charset="0"/>
                <a:cs typeface="Arial" panose="020B0604020202020204" pitchFamily="34" charset="0"/>
              </a:rPr>
              <a:t>SYSTEM ARCHITECTURE</a:t>
            </a:r>
          </a:p>
          <a:p>
            <a:pPr marL="342900" indent="-342900">
              <a:buFont typeface="Arial" panose="020B0604020202020204" pitchFamily="34" charset="0"/>
              <a:buChar char="•"/>
            </a:pPr>
            <a:r>
              <a:rPr lang="en-IN" dirty="0">
                <a:latin typeface="Arial" panose="020B0604020202020204" pitchFamily="34" charset="0"/>
                <a:cs typeface="Arial" panose="020B0604020202020204" pitchFamily="34" charset="0"/>
              </a:rPr>
              <a:t>User Input → Web Interface → Flask Server → NLP Processing → Skill Extraction → AI Recommendation Engine → Output Display</a:t>
            </a:r>
          </a:p>
          <a:p>
            <a:endParaRPr lang="en-IN" dirty="0"/>
          </a:p>
        </p:txBody>
      </p:sp>
    </p:spTree>
    <p:extLst>
      <p:ext uri="{BB962C8B-B14F-4D97-AF65-F5344CB8AC3E}">
        <p14:creationId xmlns:p14="http://schemas.microsoft.com/office/powerpoint/2010/main" val="753138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pic>
        <p:nvPicPr>
          <p:cNvPr id="9" name="Content Placeholder 8">
            <a:extLst>
              <a:ext uri="{FF2B5EF4-FFF2-40B4-BE49-F238E27FC236}">
                <a16:creationId xmlns:a16="http://schemas.microsoft.com/office/drawing/2014/main" id="{31C4C7D5-4737-416A-72BD-929870A1407A}"/>
              </a:ext>
            </a:extLst>
          </p:cNvPr>
          <p:cNvPicPr>
            <a:picLocks noGrp="1" noChangeAspect="1"/>
          </p:cNvPicPr>
          <p:nvPr>
            <p:ph idx="1"/>
          </p:nvPr>
        </p:nvPicPr>
        <p:blipFill>
          <a:blip r:embed="rId2" cstate="hqprint">
            <a:extLst>
              <a:ext uri="{28A0092B-C50C-407E-A947-70E740481C1C}">
                <a14:useLocalDpi xmlns:a14="http://schemas.microsoft.com/office/drawing/2010/main" val="0"/>
              </a:ext>
            </a:extLst>
          </a:blip>
          <a:stretch>
            <a:fillRect/>
          </a:stretch>
        </p:blipFill>
        <p:spPr>
          <a:xfrm>
            <a:off x="5370763" y="1584325"/>
            <a:ext cx="4240082" cy="2388415"/>
          </a:xfrm>
        </p:spPr>
      </p:pic>
      <p:pic>
        <p:nvPicPr>
          <p:cNvPr id="5" name="Picture 4">
            <a:extLst>
              <a:ext uri="{FF2B5EF4-FFF2-40B4-BE49-F238E27FC236}">
                <a16:creationId xmlns:a16="http://schemas.microsoft.com/office/drawing/2014/main" id="{D611CCC5-CF26-7C22-729E-DDCF6C1914BE}"/>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38137" y="1584103"/>
            <a:ext cx="4693298" cy="2388637"/>
          </a:xfrm>
          <a:prstGeom prst="rect">
            <a:avLst/>
          </a:prstGeom>
        </p:spPr>
      </p:pic>
      <p:pic>
        <p:nvPicPr>
          <p:cNvPr id="11" name="Picture 10">
            <a:extLst>
              <a:ext uri="{FF2B5EF4-FFF2-40B4-BE49-F238E27FC236}">
                <a16:creationId xmlns:a16="http://schemas.microsoft.com/office/drawing/2014/main" id="{47ECB00F-E3AA-6973-1E31-1DE07A0128F4}"/>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122875" y="1584102"/>
            <a:ext cx="5301285" cy="2388415"/>
          </a:xfrm>
          <a:prstGeom prst="rect">
            <a:avLst/>
          </a:prstGeom>
        </p:spPr>
      </p:pic>
      <p:pic>
        <p:nvPicPr>
          <p:cNvPr id="13" name="Picture 12">
            <a:extLst>
              <a:ext uri="{FF2B5EF4-FFF2-40B4-BE49-F238E27FC236}">
                <a16:creationId xmlns:a16="http://schemas.microsoft.com/office/drawing/2014/main" id="{6CD58B9A-6A72-7556-C044-90267A6B36F4}"/>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338137" y="4079467"/>
            <a:ext cx="4693298" cy="2388415"/>
          </a:xfrm>
          <a:prstGeom prst="rect">
            <a:avLst/>
          </a:prstGeom>
        </p:spPr>
      </p:pic>
      <p:pic>
        <p:nvPicPr>
          <p:cNvPr id="15" name="Picture 14">
            <a:extLst>
              <a:ext uri="{FF2B5EF4-FFF2-40B4-BE49-F238E27FC236}">
                <a16:creationId xmlns:a16="http://schemas.microsoft.com/office/drawing/2014/main" id="{0CF1B611-0DC4-F921-C023-A2B485C84E64}"/>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5122875" y="4079466"/>
            <a:ext cx="5301285" cy="2388415"/>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sz="1800" dirty="0">
                <a:latin typeface="Arial" panose="020B0604020202020204" pitchFamily="34" charset="0"/>
                <a:cs typeface="Arial" panose="020B0604020202020204" pitchFamily="34" charset="0"/>
              </a:rPr>
              <a:t>The AI-Based Job Market Trend Analysis &amp; Skill Recommendation System effectively analyzes real job market data and provides intelligent career guidance. By leveraging NLP and ML techniques, the system delivers accurate insights into trending skills and helps students and job seekers make informed career decisions. This project demonstrates the practical application of Artificial Intelligence in solving real-world problems and contributes positively to career development.</a:t>
            </a:r>
          </a:p>
        </p:txBody>
      </p:sp>
    </p:spTree>
    <p:extLst>
      <p:ext uri="{BB962C8B-B14F-4D97-AF65-F5344CB8AC3E}">
        <p14:creationId xmlns:p14="http://schemas.microsoft.com/office/powerpoint/2010/main" val="2245309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a:spcBef>
                <a:spcPct val="20000"/>
              </a:spcBef>
              <a:spcAft>
                <a:spcPts val="600"/>
              </a:spcAft>
            </a:pPr>
            <a:r>
              <a:rPr lang="en-US" sz="1800" dirty="0">
                <a:latin typeface="Arial" panose="020B0604020202020204" pitchFamily="34" charset="0"/>
                <a:cs typeface="Arial" panose="020B0604020202020204" pitchFamily="34" charset="0"/>
              </a:rPr>
              <a:t>Integration with </a:t>
            </a:r>
            <a:r>
              <a:rPr lang="en-US" sz="1800" b="1" dirty="0">
                <a:latin typeface="Arial" panose="020B0604020202020204" pitchFamily="34" charset="0"/>
                <a:cs typeface="Arial" panose="020B0604020202020204" pitchFamily="34" charset="0"/>
              </a:rPr>
              <a:t>live job APIs</a:t>
            </a:r>
            <a:r>
              <a:rPr lang="en-US" sz="1800" dirty="0">
                <a:latin typeface="Arial" panose="020B0604020202020204" pitchFamily="34" charset="0"/>
                <a:cs typeface="Arial" panose="020B0604020202020204" pitchFamily="34" charset="0"/>
              </a:rPr>
              <a:t> (LinkedIn, Indeed, Naukri)</a:t>
            </a:r>
          </a:p>
          <a:p>
            <a:pPr>
              <a:spcBef>
                <a:spcPct val="20000"/>
              </a:spcBef>
              <a:spcAft>
                <a:spcPts val="600"/>
              </a:spcAft>
            </a:pPr>
            <a:r>
              <a:rPr lang="en-US" sz="1800" dirty="0">
                <a:latin typeface="Arial" panose="020B0604020202020204" pitchFamily="34" charset="0"/>
                <a:cs typeface="Arial" panose="020B0604020202020204" pitchFamily="34" charset="0"/>
              </a:rPr>
              <a:t>Advanced AI models such as </a:t>
            </a:r>
            <a:r>
              <a:rPr lang="en-US" sz="1800" b="1" dirty="0">
                <a:latin typeface="Arial" panose="020B0604020202020204" pitchFamily="34" charset="0"/>
                <a:cs typeface="Arial" panose="020B0604020202020204" pitchFamily="34" charset="0"/>
              </a:rPr>
              <a:t>Deep Learning (BERT, LSTM)</a:t>
            </a:r>
          </a:p>
          <a:p>
            <a:pPr>
              <a:spcBef>
                <a:spcPct val="20000"/>
              </a:spcBef>
              <a:spcAft>
                <a:spcPts val="600"/>
              </a:spcAft>
            </a:pPr>
            <a:r>
              <a:rPr lang="en-IN" sz="1800" dirty="0">
                <a:latin typeface="Arial" panose="020B0604020202020204" pitchFamily="34" charset="0"/>
                <a:cs typeface="Arial" panose="020B0604020202020204" pitchFamily="34" charset="0"/>
              </a:rPr>
              <a:t>Career path prediction</a:t>
            </a:r>
          </a:p>
          <a:p>
            <a:pPr>
              <a:spcBef>
                <a:spcPct val="20000"/>
              </a:spcBef>
              <a:spcAft>
                <a:spcPts val="600"/>
              </a:spcAft>
            </a:pPr>
            <a:r>
              <a:rPr lang="en-US" sz="1800" dirty="0">
                <a:latin typeface="Arial" panose="020B0604020202020204" pitchFamily="34" charset="0"/>
                <a:cs typeface="Arial" panose="020B0604020202020204" pitchFamily="34" charset="0"/>
              </a:rPr>
              <a:t>Resume analysis and job matching</a:t>
            </a:r>
          </a:p>
          <a:p>
            <a:pPr>
              <a:spcBef>
                <a:spcPct val="20000"/>
              </a:spcBef>
              <a:spcAft>
                <a:spcPts val="600"/>
              </a:spcAft>
            </a:pPr>
            <a:r>
              <a:rPr lang="en-US" sz="1800" dirty="0">
                <a:latin typeface="Arial" panose="020B0604020202020204" pitchFamily="34" charset="0"/>
                <a:cs typeface="Arial" panose="020B0604020202020204" pitchFamily="34" charset="0"/>
              </a:rPr>
              <a:t>Cloud deployment with public access</a:t>
            </a:r>
          </a:p>
          <a:p>
            <a:pPr marL="0" indent="0">
              <a:spcBef>
                <a:spcPct val="20000"/>
              </a:spcBef>
              <a:spcAft>
                <a:spcPts val="600"/>
              </a:spcAft>
              <a:buNone/>
            </a:pPr>
            <a:endParaRPr lang="en-US" sz="2200" dirty="0">
              <a:latin typeface="Franklin Gothic Book"/>
            </a:endParaRPr>
          </a:p>
          <a:p>
            <a:pPr marL="0" indent="0">
              <a:spcBef>
                <a:spcPct val="20000"/>
              </a:spcBef>
              <a:spcAft>
                <a:spcPts val="600"/>
              </a:spcAft>
              <a:buNone/>
            </a:pPr>
            <a:endParaRPr lang="en-GB" sz="2200" dirty="0"/>
          </a:p>
          <a:p>
            <a:pPr marL="0" indent="0">
              <a:buNone/>
            </a:pPr>
            <a:endParaRPr lang="en-GB" sz="2200" dirty="0"/>
          </a:p>
        </p:txBody>
      </p:sp>
    </p:spTree>
    <p:extLst>
      <p:ext uri="{BB962C8B-B14F-4D97-AF65-F5344CB8AC3E}">
        <p14:creationId xmlns:p14="http://schemas.microsoft.com/office/powerpoint/2010/main" val="3744199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dirty="0">
                <a:latin typeface="Franklin Gothic Book"/>
              </a:rPr>
              <a:t>List and cite relevant sources, research papers, and articles that were instrumental in developing the proposed solution. This could include academic papers on bike demand prediction, machine learning algorithms, and best practices in data preprocessing and model evaluation.</a:t>
            </a:r>
            <a:endParaRPr lang="en-US" sz="2200" dirty="0">
              <a:latin typeface="Aptos" panose="020B0004020202020204"/>
            </a:endParaRPr>
          </a:p>
          <a:p>
            <a:pPr marL="0" indent="0">
              <a:buNone/>
            </a:pPr>
            <a:r>
              <a:rPr lang="en-IN" sz="2200" dirty="0">
                <a:latin typeface="Franklin Gothic Book"/>
              </a:rPr>
              <a:t>GitHub Link:</a:t>
            </a:r>
            <a:r>
              <a:rPr lang="en-IN" sz="2200" dirty="0">
                <a:solidFill>
                  <a:srgbClr val="0070C0"/>
                </a:solidFill>
                <a:latin typeface="Franklin Gothic Book"/>
              </a:rPr>
              <a:t> </a:t>
            </a:r>
            <a:r>
              <a:rPr lang="en-IN" sz="2200" u="sng" dirty="0">
                <a:solidFill>
                  <a:srgbClr val="0070C0"/>
                </a:solidFill>
                <a:latin typeface="Franklin Gothic Book"/>
                <a:hlinkClick r:id="rId2"/>
              </a:rPr>
              <a:t>Link</a:t>
            </a:r>
            <a:endParaRPr lang="en-IN" sz="2200" u="sng"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TotalTime>
  <Words>582</Words>
  <Application>Microsoft Office PowerPoint</Application>
  <PresentationFormat>Widescreen</PresentationFormat>
  <Paragraphs>85</Paragraphs>
  <Slides>12</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12</vt:i4>
      </vt:variant>
    </vt:vector>
  </HeadingPairs>
  <TitlesOfParts>
    <vt:vector size="20" baseType="lpstr">
      <vt:lpstr>Aptos</vt:lpstr>
      <vt:lpstr>Aptos Display</vt:lpstr>
      <vt:lpstr>Arial</vt:lpstr>
      <vt:lpstr>Arial Black</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PowerPoint Presentation</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Sree</cp:lastModifiedBy>
  <cp:revision>107</cp:revision>
  <dcterms:created xsi:type="dcterms:W3CDTF">2024-05-21T11:55:07Z</dcterms:created>
  <dcterms:modified xsi:type="dcterms:W3CDTF">2026-02-17T16:43:37Z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